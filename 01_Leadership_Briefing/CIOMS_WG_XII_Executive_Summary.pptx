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884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782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CIOMS Working Group XII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Benefit-Risk Assessment of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Medicinal Products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for Leadership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3566160"/>
            <a:ext cx="9144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NexVigilant Benefit-Risk Intelligence Toolkit | December 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Empowerment Through Vigilance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Report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1188720"/>
          </a:xfrm>
          <a:prstGeom prst="rect">
            <a:avLst/>
          </a:prstGeom>
          <a:solidFill>
            <a:srgbClr val="F1F5F9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medicinal product involves trade-offs between benefits and risks. Yet no universally accepted methodology exists for quantifying this balance.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3931920" cy="1188720"/>
          </a:xfrm>
          <a:prstGeom prst="rect">
            <a:avLst/>
          </a:prstGeom>
          <a:solidFill>
            <a:srgbClr val="F1F5F9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CIOMS WG XII convened 60+ global experts over 5 years to establish practical guidance for systematic, transparent B-R assessment.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138160" cy="9144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LOAD-BEARING CONCEPT: This report provides a framework for organizing thinking that accommodates various approaches while meeting regulatory expectations.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256032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Contributors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3383280"/>
            <a:ext cx="2560320" cy="9144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0896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10896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Development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3383280"/>
            <a:ext cx="2651760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852160" y="3931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Alignment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B-R Assessment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Benefit-risk assessment operates across multiple decision points throughout the product lifecycle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600200" cy="219456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B-R from target biology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188720"/>
            <a:ext cx="1600200" cy="219456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57400" y="12344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CLINICAL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1508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1-2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03120" y="19202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human data; dose-finding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188720"/>
            <a:ext cx="1600200" cy="219456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12344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CLINICAL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49040" y="1508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94760" y="19202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Pivotal trials; comprehensive safety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0680" y="1188720"/>
            <a:ext cx="1600200" cy="219456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0680" y="12344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40680" y="1508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0" y="19202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agency B-R assessment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0" y="1188720"/>
            <a:ext cx="1600200" cy="2194560"/>
          </a:xfrm>
          <a:prstGeom prst="rect">
            <a:avLst/>
          </a:prstGeom>
          <a:solidFill>
            <a:srgbClr val="FCE7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0" y="12344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POST-MARKET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1508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78040" y="19202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evidence; signal detection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138160" cy="731520"/>
          </a:xfrm>
          <a:prstGeom prst="rect">
            <a:avLst/>
          </a:prstGeom>
          <a:solidFill>
            <a:srgbClr val="F1F5F9"/>
          </a:solidFill>
          <a:ln w="254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B-R assessment is not a one-time event—it's a living process that evolves as new data accumulates and therapeutic context changes.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Terminology Standardization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86868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Favorable effects demonstrably caused by a medicinal product under defined conditions of use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4023360" cy="8686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868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097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Unfavorable effects probabilistically associated with a product (probability × severity)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023360" cy="8686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B-R ASSESSMENT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process of weighing benefits against risks for a defined population and context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783080"/>
            <a:ext cx="4023360" cy="8686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TABLE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057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display presenting benefits and risks side-by-side with quantitative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023360" cy="86868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Multi-Criteria Decision Analysis: Quantitative framework for weighting multiple criteria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743200"/>
            <a:ext cx="4023360" cy="868680"/>
          </a:xfrm>
          <a:prstGeom prst="rect">
            <a:avLst/>
          </a:prstGeom>
          <a:solidFill>
            <a:srgbClr val="FCE7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2788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017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Minimization Measures: Interventions to optimize a product's B-R profile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8138160" cy="6400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SIGNAL DETECTED: 'Favorable B-R' is context-dependent. A product may have favorable B-R for severe disease but unfavorable B-R for mild conditions—same data, different conclusions.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Framework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Benefit-Risk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14800" y="3406140"/>
            <a:ext cx="9144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systematic approach to organizing benefit-risk information across five interconnected domains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233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6928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SBRF DOMAIN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Therapeutic Context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228600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 Addressed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is the disease/condition?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is the epidemiology and burden?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is the current treatment landscape?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unmet medical need exists?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 is the target population?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023360" cy="11887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to Include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severity • Natural history • Mortality/morbidity • Available alternatives • Population characteristics • Regulatory precedents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286000"/>
            <a:ext cx="4023360" cy="100584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2331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FAILURE MODE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6060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context as boilerplate. Therapeutic context directly determines acceptable risk—5% SAE may be favorable for metastatic cancer but unacceptable for allergies.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1 sets the 'denominator' against which all benefits and risks are evaluated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SBRF DOMAIN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Assessment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64592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are primary efficacy outcomes?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secondary benefits demonstrated?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durable are the benefits?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Comparison to alternatives?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Subgroup variation?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023360" cy="10972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Quantification Metrics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0" y="2194560"/>
            <a:ext cx="402336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LOAD-BEARING CONCEPT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468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must be expressed in terms enabling direct comparison with risks. Relative benefits vs. absolute risks = invalid comparison.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 quantifies 'what do patients gain?'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SBRF DOMAIN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Assessment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8288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Risk Classification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Identified Risks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 events with established causal relationship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Potential Risks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Suspected but not yet confirmed adverse events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Information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in safety data requiring further study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023360" cy="13716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Characterization Elements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325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Incidence: How often?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Severity: How serious?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Reversibility: Recoverable?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Timing: When occurs?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Detectability: Monitorable?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Preventability: Avoidable?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468880"/>
            <a:ext cx="4023360" cy="6400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FAILURE MODE: Listing AEs without characterization. 'Hepatotoxicity' conveys nothing without incidence, severity, onset, and reversibility.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3 answers 'what might patients lose?' with full characterization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SBRF DOMAIN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&amp; Evidence Quality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82880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of Uncertainty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Statistical: Confidence intervals, sample size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Design: Single-arm, surrogate endpoints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Generalizability: Trial vs. real-world patients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Temporal: Limited follow-up duration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Comparative: Lack of head-to-head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02336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Quality Assessment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188720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417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1188720" cy="3657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0" y="1417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1371600"/>
            <a:ext cx="1188720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0" y="1417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920240"/>
            <a:ext cx="4023360" cy="9144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9659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LOAD-BEARING CONCEPT: The Uncertainty Paradox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240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products move through lifecycle, some uncertainties decrease (more data) while others may increase (rare events detected, real-world effectiveness differs).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4 documents epistemic humility—what remains unknown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SBRF DOMAIN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Risk Management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9144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B-R Summary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justified statement of B-R balance for the defined population and use, stating key factors driving the determination.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023360" cy="118872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Elements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Overall B-R determination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Key benefit drivers with quantification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Key risk drivers with characterization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Conditions under which B-R applies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Re-evaluation triggers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023360" cy="10058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Minimization Plan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325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Routine RMMs (labeling, packaging)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Additional RMMs (REMS, ETASU, restricted distribution)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Pharmacovigilance plan and monitoring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103120"/>
            <a:ext cx="4023360" cy="109728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148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Re-evaluation Triggers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4231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safety signal detected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Significant new efficacy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 in therapeutic context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RMM effectiveness concerns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5 transforms analysis into decision support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Framework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Methods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0" y="2834640"/>
            <a:ext cx="9144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descriptive frameworks require numerical precision, CIOMS WG XII provides guidance on quantitative approaches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Tables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Preferences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Multi-Criteria Decision Analysis (MCDA)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framework for combining multiple criteria into overall value scores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1828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MCDA Process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74320" cy="2286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criteria (benefits, risks, other factors)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274320" cy="2286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6733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performance on each criterion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29384"/>
            <a:ext cx="274320" cy="2286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9293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scores to common 0-100 scale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185416"/>
            <a:ext cx="274320" cy="2286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1854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 weights (swing weighting or DCE)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41448"/>
            <a:ext cx="274320" cy="2286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4414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weighted scores and test sensitivity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4023360" cy="91440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1143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MCDA Adds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417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Multiple competing criteria without clear hierarchy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Different stakeholders assign different importance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Transparency required for regulatory discussions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103120"/>
            <a:ext cx="4023360" cy="82296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2148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Critical Considerations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423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Assumes linear value functions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Weight elicitation affects results significantly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 score differences may not be meaningful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MCDA's value is transparency—explicit weights reveal exactly why one option scores higher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Preference Studies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what matters most to patients in benefit-risk trade-offs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6858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Choice Experiment: Choices between profiles reveal weights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023360" cy="685800"/>
          </a:xfrm>
          <a:prstGeom prst="rect">
            <a:avLst/>
          </a:prstGeom>
          <a:solidFill>
            <a:srgbClr val="FCE7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143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Best-Worst Scaling: Select most/least important attributes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4023360" cy="68580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measures maximum acceptable risk for benefit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874520"/>
            <a:ext cx="4023360" cy="6858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920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importance of improving from worst to best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8138160" cy="6400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Patient preferences can be incorporated into MCDA as stakeholder-derived weights or used to validate expert weight assignments.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Patient Preference Study Selector for method selection guidance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Effects 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visualization tool presenting benefits and risks in comparable format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229600" cy="16459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Comparator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Difference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Uncertainty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BENEFITS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Primary endpoint response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+26%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95% CI: 18-34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RISKS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Serious adverse events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8.2%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5.1%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+3.1%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95% CI: 1.2-5.0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926080"/>
            <a:ext cx="402336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Principles: Consistent units • Include uncertainty • Show absolute and relative measures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2926080"/>
            <a:ext cx="4023360" cy="54864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6344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The Effects Table is the foundation for both descriptive SBRF and quantitative MCDA approaches.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Table template available in NexVigilant Toolkit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B-R Visualization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011680" cy="1828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Tree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decomposition of B-R criteria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Structuring MCDA criteria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914400"/>
            <a:ext cx="2011680" cy="1828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960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Plot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sizes with confidence intervals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Comparative efficacy/safety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2011680" cy="1828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960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Tornado Diagram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analysis visualization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Robustness testing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914400"/>
            <a:ext cx="2011680" cy="1828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12280" y="960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Map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performance matrix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Multi-option comparison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8138160" cy="54864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Visualization should clarify not obscure. Avoid complex graphics requiring extensive explanation—if a table would be clearer, use a table.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Minimization Measures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Interventions to optimize benefit-risk balance beyond routine pharmacovigilance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118872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RMMs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Prescribing information (SmPC/USPI)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Patient labeling (PIL/PPI)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Packaging and container design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Legal status (Rx vs. OTC)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023360" cy="11887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RMMs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Educational programs (HCP/patient)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Controlled distribution systems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Patient registries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Prescriber certification (REMS/ETASU)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023360" cy="11887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143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RMM Selection Criteria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417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Proportionality to risk severity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Feasibility of implementation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Impact on patient access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Measurability of effectiveness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Burden on healthcare system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377440"/>
            <a:ext cx="4023360" cy="6400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468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Excessive RMMs can impede appropriate access. The goal is optimal B-R, not maximum restriction.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Regulatory Alignment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regulatory authorities share common B-R principles with regional variations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229600" cy="16459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FDA (US)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EMA (EU)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PMDA (Japan)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Primary Framework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FDA BRF (2013)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PrOACT-URL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ICH-aligned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Risk Management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REMS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RMP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J-RMP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Periodic Safety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PSUR/PADER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PBRER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PBRER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Patient Preferences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 Guidance issued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 Reflection paper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◐ Emerging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926080"/>
            <a:ext cx="8138160" cy="6400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SIGNAL DETECTED: ICH E2C(R2) provides the harmonized foundation; regional differences are primarily in documentation format and RMM terminology, not fundamental approach.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approach to adopting CIOMS WG XII guidance within your organization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011680" cy="2103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terminology • Train on SBRF • Adopt Effects Table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months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2011680" cy="21031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1460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874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in decision gates • Pilot quantitative methods • Build processes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14600" y="29260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months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2011680" cy="21031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6344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874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preference studies • Implement MCDA • Refine with feedback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9260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months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12280" y="1097280"/>
            <a:ext cx="2011680" cy="2103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122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1874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regulatory engagement • Publish innovations • Shape guidance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29260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NexVigilant for implementation consulting and capability acceleration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Leadership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91440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896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Framework, Not Formula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SBRF structures thinking without prescribing calculation method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023360" cy="9144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868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896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is the Goal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articulation of assumptions enables meaningful dialogue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4023360" cy="91440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874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1901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Everything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240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 yield different conclusions based on disease severity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828800"/>
            <a:ext cx="4023360" cy="91440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874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1901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Assessment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240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 and willingness to re-evaluate essential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4023360" cy="91440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2907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Voice Matters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Incorporating preferences strengthens validity across agencies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834640"/>
            <a:ext cx="4023360" cy="91440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2880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29200" y="2907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Capability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3246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B-R competency is a strategic asset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CIOMS WG XII Report provides the foundation for regulatory B-R excellence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NexVigilant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EMPOWERMENT THROUGH VIGILANCE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0" y="2286000"/>
            <a:ext cx="9144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Pharmacovigilance &amp; Patient Safety 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Pharmaceutical Intelligence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Acceleration &amp; L&amp;D Services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3566160"/>
            <a:ext cx="3657600" cy="914400"/>
          </a:xfrm>
          <a:prstGeom prst="rect">
            <a:avLst/>
          </a:prstGeom>
          <a:solidFill>
            <a:srgbClr val="2D4A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Matthew Campion, PharmD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3931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Executive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matthew@nexvigilant.com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www.nexvigilant.com | Benefit-Risk Intelligence Toolkit © 2025 NexVigilant LLC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1618</Words>
  <Application>Microsoft Office PowerPoint</Application>
  <PresentationFormat>On-screen Show (16:9)</PresentationFormat>
  <Paragraphs>334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NexVigilant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CIOMS WG XII Executive Summary</dc:title>
  <dc:subject>Benefit-Risk Assessment Leadership Briefing</dc:subject>
  <dc:creator>NexVigilant</dc:creator>
  <cp:lastModifiedBy>Matthew Campion</cp:lastModifiedBy>
  <cp:revision>2</cp:revision>
  <dcterms:created xsi:type="dcterms:W3CDTF">2025-12-18T04:45:56Z</dcterms:created>
  <dcterms:modified xsi:type="dcterms:W3CDTF">2025-12-18T14:13:01Z</dcterms:modified>
</cp:coreProperties>
</file>